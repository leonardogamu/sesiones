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4" r:id="rId3"/>
    <p:sldId id="260" r:id="rId4"/>
    <p:sldId id="272" r:id="rId5"/>
    <p:sldId id="271" r:id="rId6"/>
    <p:sldId id="261" r:id="rId7"/>
    <p:sldId id="259" r:id="rId8"/>
    <p:sldId id="270" r:id="rId9"/>
    <p:sldId id="264" r:id="rId10"/>
    <p:sldId id="258" r:id="rId11"/>
    <p:sldId id="262" r:id="rId12"/>
    <p:sldId id="263" r:id="rId13"/>
    <p:sldId id="265" r:id="rId14"/>
    <p:sldId id="273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45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010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62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619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0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879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923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722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604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142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830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3D3BBE-9940-460B-9540-AB926AE0EC68}" type="datetimeFigureOut">
              <a:rPr lang="es-MX" smtClean="0"/>
              <a:t>24/09/2026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3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5.pn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7200" dirty="0" smtClean="0"/>
              <a:t>Introducción al </a:t>
            </a:r>
            <a:br>
              <a:rPr lang="es-MX" sz="7200" dirty="0" smtClean="0"/>
            </a:br>
            <a:r>
              <a:rPr lang="es-MX" sz="7200" dirty="0" smtClean="0"/>
              <a:t>Machine </a:t>
            </a:r>
            <a:r>
              <a:rPr lang="es-MX" sz="7200" dirty="0" smtClean="0"/>
              <a:t>&amp; Deep </a:t>
            </a:r>
            <a:r>
              <a:rPr lang="es-MX" sz="7200" dirty="0" err="1" smtClean="0"/>
              <a:t>Learning</a:t>
            </a:r>
            <a:endParaRPr lang="es-MX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smtClean="0"/>
              <a:t>Sesión 1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79869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74032"/>
              </p:ext>
            </p:extLst>
          </p:nvPr>
        </p:nvGraphicFramePr>
        <p:xfrm>
          <a:off x="1051032" y="472967"/>
          <a:ext cx="10205546" cy="358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2773"/>
                <a:gridCol w="5102773"/>
              </a:tblGrid>
              <a:tr h="549185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 smtClean="0"/>
                        <a:t>Inteligencia Natural</a:t>
                      </a:r>
                      <a:endParaRPr lang="es-MX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 smtClean="0"/>
                        <a:t>Inteligencia Artificial</a:t>
                      </a:r>
                      <a:endParaRPr lang="es-MX" sz="2400" dirty="0"/>
                    </a:p>
                  </a:txBody>
                  <a:tcPr/>
                </a:tc>
              </a:tr>
              <a:tr h="3034841">
                <a:tc>
                  <a:txBody>
                    <a:bodyPr/>
                    <a:lstStyle/>
                    <a:p>
                      <a:r>
                        <a:rPr lang="es-MX" dirty="0" smtClean="0"/>
                        <a:t>Nace del cerebro y se desarrolla mediante la experiencia, los errores, el aprendizaje, las emociones y la interacción con del</a:t>
                      </a:r>
                      <a:r>
                        <a:rPr lang="es-MX" baseline="0" dirty="0" smtClean="0"/>
                        <a:t> humano con el mundo</a:t>
                      </a:r>
                      <a:r>
                        <a:rPr lang="es-MX" dirty="0" smtClean="0"/>
                        <a:t>.</a:t>
                      </a:r>
                    </a:p>
                    <a:p>
                      <a:endParaRPr lang="es-MX" dirty="0" smtClean="0"/>
                    </a:p>
                    <a:p>
                      <a:r>
                        <a:rPr lang="es-MX" dirty="0" smtClean="0"/>
                        <a:t>Destaca por su capacidad de adaptación, creatividad, sentido común, comprensión del contexto, emociones y aprendizaje a partir de experiencias.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Nace de un sistema computacional para realizar tareas que normalmente requieren inteligencia humana, como aprender de datos, reconocer patrones, resolver problemas y tomar decisiones.</a:t>
                      </a:r>
                    </a:p>
                    <a:p>
                      <a:endParaRPr lang="es-MX" dirty="0" smtClean="0"/>
                    </a:p>
                    <a:p>
                      <a:r>
                        <a:rPr lang="es-MX" dirty="0" smtClean="0"/>
                        <a:t>Destaca por su velocidad, estandarización</a:t>
                      </a:r>
                      <a:r>
                        <a:rPr lang="es-MX" baseline="0" dirty="0" smtClean="0"/>
                        <a:t> y</a:t>
                      </a:r>
                      <a:r>
                        <a:rPr lang="es-MX" dirty="0" smtClean="0"/>
                        <a:t> capacidad para procesar grandes cantidades de información y detectar patrones en grandes volúmenes de datos.</a:t>
                      </a:r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 descr="Inteligencia Artific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618" y="4393324"/>
            <a:ext cx="3048373" cy="171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FD65D9FF-80B6-82B3-E2E8-1A29FE35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749318"/>
            <a:ext cx="4956659" cy="535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0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Antecedentes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354676" y="1798753"/>
            <a:ext cx="8323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Todo </a:t>
            </a:r>
            <a:r>
              <a:rPr lang="es-MX" dirty="0" smtClean="0"/>
              <a:t>esto comienza en la década de los 40s cuando un par de matemáticos ya estudiaban y proponían el </a:t>
            </a:r>
            <a:r>
              <a:rPr lang="es-MX" dirty="0"/>
              <a:t>primer modelo matemático de una neurona artificial, sembrando la idea de que el pensamiento se puede representar con lógica y circuitos. </a:t>
            </a:r>
            <a:r>
              <a:rPr lang="es-MX" dirty="0" smtClean="0"/>
              <a:t>No fue si no hasta 1950, </a:t>
            </a:r>
            <a:r>
              <a:rPr lang="es-MX" dirty="0"/>
              <a:t>Alan Turing publica "Computing </a:t>
            </a:r>
            <a:r>
              <a:rPr lang="es-MX" dirty="0" err="1"/>
              <a:t>Machinery</a:t>
            </a:r>
            <a:r>
              <a:rPr lang="es-MX" dirty="0"/>
              <a:t> and </a:t>
            </a:r>
            <a:r>
              <a:rPr lang="es-MX" dirty="0" err="1"/>
              <a:t>Intelligence</a:t>
            </a:r>
            <a:r>
              <a:rPr lang="es-MX" dirty="0"/>
              <a:t>" y plantea el famoso Test de Turing: </a:t>
            </a:r>
            <a:endParaRPr lang="es-MX" dirty="0" smtClean="0"/>
          </a:p>
          <a:p>
            <a:pPr algn="ctr"/>
            <a:r>
              <a:rPr lang="es-MX" b="1" dirty="0" smtClean="0"/>
              <a:t>“si </a:t>
            </a:r>
            <a:r>
              <a:rPr lang="es-MX" b="1" dirty="0"/>
              <a:t>una máquina logra conversar sin que la distingamos de un humano, ¿podemos decir que piensa</a:t>
            </a:r>
            <a:r>
              <a:rPr lang="es-MX" b="1" dirty="0" smtClean="0"/>
              <a:t>?“</a:t>
            </a:r>
          </a:p>
          <a:p>
            <a:endParaRPr lang="es-MX" dirty="0" smtClean="0"/>
          </a:p>
          <a:p>
            <a:r>
              <a:rPr lang="es-MX" dirty="0" smtClean="0"/>
              <a:t>Fue hasta 1958</a:t>
            </a:r>
            <a:r>
              <a:rPr lang="es-MX" dirty="0"/>
              <a:t>, </a:t>
            </a:r>
            <a:r>
              <a:rPr lang="es-MX" dirty="0" smtClean="0"/>
              <a:t>que se construye </a:t>
            </a:r>
            <a:r>
              <a:rPr lang="es-MX" dirty="0"/>
              <a:t>el </a:t>
            </a:r>
            <a:r>
              <a:rPr lang="es-MX" dirty="0" err="1"/>
              <a:t>Perceptrón</a:t>
            </a:r>
            <a:r>
              <a:rPr lang="es-MX" dirty="0"/>
              <a:t>, el primer modelo de neurona artificial que se podía entrenar con datos, y que hoy vemos como el antecesor directo de las redes neuronales modernas. Pero el optimismo choca con la realidad en 1969, cuando </a:t>
            </a:r>
            <a:r>
              <a:rPr lang="es-MX" dirty="0" err="1"/>
              <a:t>Minsky</a:t>
            </a:r>
            <a:r>
              <a:rPr lang="es-MX" dirty="0"/>
              <a:t> y </a:t>
            </a:r>
            <a:r>
              <a:rPr lang="es-MX" dirty="0" err="1"/>
              <a:t>Papert</a:t>
            </a:r>
            <a:r>
              <a:rPr lang="es-MX" dirty="0"/>
              <a:t> publican "</a:t>
            </a:r>
            <a:r>
              <a:rPr lang="es-MX" dirty="0" err="1"/>
              <a:t>Perceptrons</a:t>
            </a:r>
            <a:r>
              <a:rPr lang="es-MX" dirty="0"/>
              <a:t>" y demuestran que ese modelo simple no puede resolver problemas </a:t>
            </a:r>
            <a:r>
              <a:rPr lang="es-MX" dirty="0" smtClean="0"/>
              <a:t>muy complejos. </a:t>
            </a:r>
          </a:p>
          <a:p>
            <a:endParaRPr lang="es-MX" dirty="0" smtClean="0"/>
          </a:p>
          <a:p>
            <a:r>
              <a:rPr lang="es-MX" dirty="0" smtClean="0"/>
              <a:t>El </a:t>
            </a:r>
            <a:r>
              <a:rPr lang="es-MX" dirty="0"/>
              <a:t>golpe es tan fuerte que la investigación en redes neuronales se estanca por casi 15 años, dando inicio al primer "invierno de la IA".</a:t>
            </a:r>
          </a:p>
        </p:txBody>
      </p:sp>
      <p:pic>
        <p:nvPicPr>
          <p:cNvPr id="3074" name="Picture 2" descr="https://imgs.search.brave.com/Qd0cA0w4iX_0dQs-zSbvJmf-_84uOf0sAatdK2FiqrE/rs:fit:500:0:1:0/g:ce/aHR0cHM6Ly91cGxv/YWQud2lraW1lZGlh/Lm9yZy93aWtpcGVk/aWEvY29tbW9ucy82/LzY3L0JlbGdpcXVl/Xy1fTG91dmFpbi1s/YS1OZXV2ZV8tX1Bh/cmtpbmdfZGVzX1Nj/aWVuY2VzXy1fQWxh/bl9UdXJpbmcuanB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487" y="1798753"/>
            <a:ext cx="2664671" cy="184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970s NASA computer room ca. 1974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487" y="3922411"/>
            <a:ext cx="3108671" cy="24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99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21425" y="1765636"/>
            <a:ext cx="8323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El campo </a:t>
            </a:r>
            <a:r>
              <a:rPr lang="es-MX" dirty="0" smtClean="0"/>
              <a:t>vuelve a tomar fuerza a mediados de los 80s cuando </a:t>
            </a:r>
            <a:r>
              <a:rPr lang="es-MX" dirty="0" err="1"/>
              <a:t>Rumelhart</a:t>
            </a:r>
            <a:r>
              <a:rPr lang="es-MX" dirty="0"/>
              <a:t>, </a:t>
            </a:r>
            <a:r>
              <a:rPr lang="es-MX" dirty="0" err="1"/>
              <a:t>Hinton</a:t>
            </a:r>
            <a:r>
              <a:rPr lang="es-MX" dirty="0"/>
              <a:t> y Williams popularizan el algoritmo de </a:t>
            </a:r>
            <a:r>
              <a:rPr lang="es-MX" dirty="0" err="1"/>
              <a:t>backpropagation</a:t>
            </a:r>
            <a:r>
              <a:rPr lang="es-MX" dirty="0"/>
              <a:t>, que finalmente permite entrenar redes neuronales con varias capas y reactiva el interés en el área. </a:t>
            </a:r>
            <a:endParaRPr lang="es-MX" dirty="0" smtClean="0"/>
          </a:p>
          <a:p>
            <a:endParaRPr lang="es-MX" dirty="0" smtClean="0"/>
          </a:p>
          <a:p>
            <a:r>
              <a:rPr lang="es-MX" dirty="0" smtClean="0"/>
              <a:t>Aun </a:t>
            </a:r>
            <a:r>
              <a:rPr lang="es-MX" dirty="0"/>
              <a:t>así, durante los años 90 y 2000 el machine </a:t>
            </a:r>
            <a:r>
              <a:rPr lang="es-MX" dirty="0" err="1"/>
              <a:t>learning</a:t>
            </a:r>
            <a:r>
              <a:rPr lang="es-MX" dirty="0"/>
              <a:t> "clásico" es quien domina la escena: </a:t>
            </a:r>
            <a:r>
              <a:rPr lang="es-MX" dirty="0" smtClean="0"/>
              <a:t>(árboles </a:t>
            </a:r>
            <a:r>
              <a:rPr lang="es-MX" dirty="0"/>
              <a:t>de </a:t>
            </a:r>
            <a:r>
              <a:rPr lang="es-MX" dirty="0" smtClean="0"/>
              <a:t>decisión prácticamente en todo) mientras </a:t>
            </a:r>
            <a:r>
              <a:rPr lang="es-MX" dirty="0"/>
              <a:t>las redes profundas siguen siendo poco prácticas por la falta de datos y poder de cómputo. </a:t>
            </a:r>
            <a:endParaRPr lang="es-MX" dirty="0" smtClean="0"/>
          </a:p>
          <a:p>
            <a:r>
              <a:rPr lang="es-MX" dirty="0" smtClean="0"/>
              <a:t>Eso </a:t>
            </a:r>
            <a:r>
              <a:rPr lang="es-MX" dirty="0"/>
              <a:t>cambia </a:t>
            </a:r>
            <a:r>
              <a:rPr lang="es-MX" dirty="0" smtClean="0"/>
              <a:t>a lo largo de la década de los 2000s, </a:t>
            </a:r>
            <a:r>
              <a:rPr lang="es-MX" dirty="0"/>
              <a:t>cuando </a:t>
            </a:r>
            <a:r>
              <a:rPr lang="es-MX" dirty="0" smtClean="0"/>
              <a:t>se introduce </a:t>
            </a:r>
            <a:r>
              <a:rPr lang="es-MX" dirty="0"/>
              <a:t>el término "Deep </a:t>
            </a:r>
            <a:r>
              <a:rPr lang="es-MX" dirty="0" err="1"/>
              <a:t>Learning</a:t>
            </a:r>
            <a:r>
              <a:rPr lang="es-MX" dirty="0"/>
              <a:t>" junto con técnicas para </a:t>
            </a:r>
            <a:r>
              <a:rPr lang="es-MX" dirty="0" err="1"/>
              <a:t>preentrenar</a:t>
            </a:r>
            <a:r>
              <a:rPr lang="es-MX" dirty="0"/>
              <a:t> redes profundas capa por </a:t>
            </a:r>
            <a:r>
              <a:rPr lang="es-MX" dirty="0" smtClean="0"/>
              <a:t>capa y algoritmos cada vez mas refinados y revolucionarios.</a:t>
            </a:r>
          </a:p>
          <a:p>
            <a:endParaRPr lang="es-MX" dirty="0"/>
          </a:p>
          <a:p>
            <a:r>
              <a:rPr lang="es-MX" dirty="0"/>
              <a:t>E</a:t>
            </a:r>
            <a:r>
              <a:rPr lang="es-MX" dirty="0" smtClean="0"/>
              <a:t>n </a:t>
            </a:r>
            <a:r>
              <a:rPr lang="es-MX" dirty="0"/>
              <a:t>2017, el </a:t>
            </a:r>
            <a:r>
              <a:rPr lang="es-MX" dirty="0" err="1"/>
              <a:t>paper</a:t>
            </a:r>
            <a:r>
              <a:rPr lang="es-MX" dirty="0"/>
              <a:t> </a:t>
            </a:r>
            <a:r>
              <a:rPr lang="es-MX" b="1" dirty="0"/>
              <a:t>"</a:t>
            </a:r>
            <a:r>
              <a:rPr lang="es-MX" b="1" dirty="0" err="1"/>
              <a:t>Attention</a:t>
            </a:r>
            <a:r>
              <a:rPr lang="es-MX" b="1" dirty="0"/>
              <a:t> </a:t>
            </a:r>
            <a:r>
              <a:rPr lang="es-MX" b="1" dirty="0" err="1"/>
              <a:t>is</a:t>
            </a:r>
            <a:r>
              <a:rPr lang="es-MX" b="1" dirty="0"/>
              <a:t> </a:t>
            </a:r>
            <a:r>
              <a:rPr lang="es-MX" b="1" dirty="0" err="1"/>
              <a:t>All</a:t>
            </a:r>
            <a:r>
              <a:rPr lang="es-MX" b="1" dirty="0"/>
              <a:t> </a:t>
            </a:r>
            <a:r>
              <a:rPr lang="es-MX" b="1" dirty="0" err="1"/>
              <a:t>You</a:t>
            </a:r>
            <a:r>
              <a:rPr lang="es-MX" b="1" dirty="0"/>
              <a:t> </a:t>
            </a:r>
            <a:r>
              <a:rPr lang="es-MX" b="1" dirty="0" err="1"/>
              <a:t>Need</a:t>
            </a:r>
            <a:r>
              <a:rPr lang="es-MX" b="1" dirty="0"/>
              <a:t>"</a:t>
            </a:r>
            <a:r>
              <a:rPr lang="es-MX" dirty="0"/>
              <a:t> presenta la arquitectura </a:t>
            </a:r>
            <a:r>
              <a:rPr lang="es-MX" dirty="0" err="1"/>
              <a:t>Transformer</a:t>
            </a:r>
            <a:r>
              <a:rPr lang="es-MX" dirty="0"/>
              <a:t>, la base sobre la que hoy están construidos los modelos de lenguaje como </a:t>
            </a:r>
            <a:r>
              <a:rPr lang="es-MX" dirty="0" smtClean="0"/>
              <a:t>el GPT. </a:t>
            </a:r>
            <a:r>
              <a:rPr lang="es-MX" dirty="0"/>
              <a:t>Hoy en día el </a:t>
            </a:r>
            <a:r>
              <a:rPr lang="es-MX" dirty="0" err="1"/>
              <a:t>deep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domina tareas de visión, lenguaje y audio, pero el machine </a:t>
            </a:r>
            <a:r>
              <a:rPr lang="es-MX" dirty="0" err="1"/>
              <a:t>learning</a:t>
            </a:r>
            <a:r>
              <a:rPr lang="es-MX" dirty="0"/>
              <a:t> clásico sigue siendo la opción más simple y eficiente para muchos problemas con datos </a:t>
            </a:r>
            <a:r>
              <a:rPr lang="es-MX" dirty="0" smtClean="0"/>
              <a:t>tabulares.</a:t>
            </a:r>
            <a:endParaRPr lang="es-MX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Antecedentes</a:t>
            </a:r>
            <a:endParaRPr lang="es-MX" dirty="0"/>
          </a:p>
        </p:txBody>
      </p:sp>
      <p:pic>
        <p:nvPicPr>
          <p:cNvPr id="4098" name="Picture 2" descr="From &quot;Attention is all you need&quot; paper by Vaswani, et al., 2017 [1]. Scaled dot-product attention formula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003" y="3529671"/>
            <a:ext cx="2720051" cy="62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363" y="1876652"/>
            <a:ext cx="3486637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Machine </a:t>
            </a:r>
            <a:r>
              <a:rPr lang="es-MX" dirty="0" err="1" smtClean="0"/>
              <a:t>Learning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4763" y="2757334"/>
            <a:ext cx="6982799" cy="220058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386378" y="1841836"/>
            <a:ext cx="996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</a:t>
            </a:r>
            <a:r>
              <a:rPr lang="es-MX" dirty="0" smtClean="0"/>
              <a:t>ama </a:t>
            </a:r>
            <a:r>
              <a:rPr lang="es-MX" dirty="0"/>
              <a:t>de </a:t>
            </a:r>
            <a:r>
              <a:rPr lang="es-MX" dirty="0" smtClean="0"/>
              <a:t>la inteligencia artificial que </a:t>
            </a:r>
            <a:r>
              <a:rPr lang="es-MX" dirty="0"/>
              <a:t>permite a las computadoras aprender de los datos y mejorar su </a:t>
            </a:r>
            <a:r>
              <a:rPr lang="es-MX" dirty="0" smtClean="0"/>
              <a:t>conocimiento mediante </a:t>
            </a:r>
            <a:r>
              <a:rPr lang="es-MX" dirty="0"/>
              <a:t>la experiencia, sin necesidad de ser programadas explícitamente para cada tarea.</a:t>
            </a:r>
          </a:p>
        </p:txBody>
      </p:sp>
    </p:spTree>
    <p:extLst>
      <p:ext uri="{BB962C8B-B14F-4D97-AF65-F5344CB8AC3E}">
        <p14:creationId xmlns:p14="http://schemas.microsoft.com/office/powerpoint/2010/main" val="257349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990197"/>
            <a:ext cx="3375026" cy="405533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5" y="1940002"/>
            <a:ext cx="3378199" cy="415572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1" y="2105348"/>
            <a:ext cx="3190872" cy="3940180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Tipos de Algoritmos de Machine </a:t>
            </a:r>
            <a:r>
              <a:rPr lang="es-MX" dirty="0" err="1" smtClean="0"/>
              <a:t>Learning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906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80801" y="26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 smtClean="0"/>
              <a:t>Ejemplos de Algoritmos de Machine </a:t>
            </a:r>
            <a:r>
              <a:rPr lang="es-MX" dirty="0" err="1" smtClean="0"/>
              <a:t>Learning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3" y="4155273"/>
            <a:ext cx="2548385" cy="237849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083" y="4081327"/>
            <a:ext cx="2629342" cy="25263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821" y="4355072"/>
            <a:ext cx="3440678" cy="225264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112497" y="1325824"/>
            <a:ext cx="17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K-</a:t>
            </a:r>
            <a:r>
              <a:rPr lang="es-MX" dirty="0" err="1" smtClean="0"/>
              <a:t>Means</a:t>
            </a:r>
            <a:endParaRPr lang="es-MX" dirty="0" smtClean="0"/>
          </a:p>
          <a:p>
            <a:pPr algn="ctr"/>
            <a:r>
              <a:rPr lang="es-MX" dirty="0" smtClean="0"/>
              <a:t>(No Supervisado)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4839792" y="1325826"/>
            <a:ext cx="1671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Regresión Lasso</a:t>
            </a:r>
          </a:p>
          <a:p>
            <a:pPr algn="ctr"/>
            <a:r>
              <a:rPr lang="es-MX" dirty="0" smtClean="0"/>
              <a:t>(Supervisado)</a:t>
            </a:r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8835986" y="1325825"/>
            <a:ext cx="1623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 smtClean="0"/>
              <a:t>Random</a:t>
            </a:r>
            <a:r>
              <a:rPr lang="es-MX" dirty="0" smtClean="0"/>
              <a:t> </a:t>
            </a:r>
            <a:r>
              <a:rPr lang="es-MX" dirty="0" err="1" smtClean="0"/>
              <a:t>Forest</a:t>
            </a:r>
            <a:endParaRPr lang="es-MX" dirty="0" smtClean="0"/>
          </a:p>
          <a:p>
            <a:pPr algn="ctr"/>
            <a:r>
              <a:rPr lang="es-MX" dirty="0" smtClean="0"/>
              <a:t>(Supervisado)</a:t>
            </a:r>
            <a:endParaRPr lang="es-MX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/>
          <a:srcRect t="3818"/>
          <a:stretch/>
        </p:blipFill>
        <p:spPr>
          <a:xfrm>
            <a:off x="3932805" y="2130923"/>
            <a:ext cx="3582420" cy="168734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105" y="2063961"/>
            <a:ext cx="3717700" cy="186316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702" y="2006548"/>
            <a:ext cx="3547797" cy="23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1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180"/>
            <a:ext cx="12192000" cy="379163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371975" y="504825"/>
            <a:ext cx="342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Diseño de un proyecto de ML o DP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40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Deep </a:t>
            </a:r>
            <a:r>
              <a:rPr lang="es-MX" dirty="0" err="1" smtClean="0"/>
              <a:t>Learning</a:t>
            </a:r>
            <a:endParaRPr lang="es-MX" dirty="0"/>
          </a:p>
        </p:txBody>
      </p:sp>
      <p:sp>
        <p:nvSpPr>
          <p:cNvPr id="8" name="Rectángulo 7"/>
          <p:cNvSpPr/>
          <p:nvPr/>
        </p:nvSpPr>
        <p:spPr>
          <a:xfrm>
            <a:off x="1390650" y="1690688"/>
            <a:ext cx="99631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S</a:t>
            </a:r>
            <a:r>
              <a:rPr lang="es-MX" sz="2000" dirty="0" smtClean="0"/>
              <a:t>ubcategoría del machine </a:t>
            </a:r>
            <a:r>
              <a:rPr lang="es-MX" sz="2000" dirty="0" err="1" smtClean="0"/>
              <a:t>learning</a:t>
            </a:r>
            <a:r>
              <a:rPr lang="es-MX" sz="2000" dirty="0" smtClean="0"/>
              <a:t> e inteligencia artificial que utiliza redes neuronales artificiales con múltiples capas para aprender de grandes volúmenes de datos, el </a:t>
            </a:r>
            <a:r>
              <a:rPr lang="es-MX" sz="2000" dirty="0" err="1" smtClean="0"/>
              <a:t>deep</a:t>
            </a:r>
            <a:r>
              <a:rPr lang="es-MX" sz="2000" dirty="0" smtClean="0"/>
              <a:t> </a:t>
            </a:r>
            <a:r>
              <a:rPr lang="es-MX" sz="2000" dirty="0" err="1" smtClean="0"/>
              <a:t>learning</a:t>
            </a:r>
            <a:r>
              <a:rPr lang="es-MX" sz="2000" dirty="0" smtClean="0"/>
              <a:t> automatiza e imita el funcionamiento del cerebro humano. </a:t>
            </a:r>
            <a:endParaRPr lang="es-MX" sz="2000" dirty="0"/>
          </a:p>
        </p:txBody>
      </p:sp>
      <p:pic>
        <p:nvPicPr>
          <p:cNvPr id="10" name="Picture 7" descr="A diagram of a neuron and a neuron diagram&#10;&#10;AI-generated content may be incorrect.">
            <a:extLst>
              <a:ext uri="{FF2B5EF4-FFF2-40B4-BE49-F238E27FC236}">
                <a16:creationId xmlns:a16="http://schemas.microsoft.com/office/drawing/2014/main" xmlns="" id="{B461D35D-D6F6-4FE7-C9D4-895EEA2285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104" y="2814043"/>
            <a:ext cx="5525491" cy="3683661"/>
          </a:xfrm>
          <a:prstGeom prst="rect">
            <a:avLst/>
          </a:prstGeom>
        </p:spPr>
      </p:pic>
      <p:pic>
        <p:nvPicPr>
          <p:cNvPr id="1028" name="Picture 4" descr="resumen representación de neuronas y neural redes, ilustrando el complejidad de el humano cerebro y nervioso sistema f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212835"/>
            <a:ext cx="476250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38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837794"/>
            <a:ext cx="5591873" cy="346163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524125" y="4943475"/>
            <a:ext cx="771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Si esa es una neurona, ¿Cómo conseguimos miles para imitar a nuestro cerebro?</a:t>
            </a:r>
            <a:endParaRPr lang="es-MX" dirty="0"/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xmlns="" id="{69B4F3CE-182B-5D22-CB0E-8748C9A87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75268"/>
              </p:ext>
            </p:extLst>
          </p:nvPr>
        </p:nvGraphicFramePr>
        <p:xfrm>
          <a:off x="883512" y="1100539"/>
          <a:ext cx="4395868" cy="2764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Imagen de mapa de bits" r:id="rId4" imgW="6058080" imgH="3809880" progId="Paint.Picture">
                  <p:embed/>
                </p:oleObj>
              </mc:Choice>
              <mc:Fallback>
                <p:oleObj name="Imagen de mapa de bits" r:id="rId4" imgW="6058080" imgH="3809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3512" y="1100539"/>
                        <a:ext cx="4395868" cy="2764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xmlns="" id="{39D3B559-CCC0-3B3C-2B17-DB9DF6A25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913709"/>
              </p:ext>
            </p:extLst>
          </p:nvPr>
        </p:nvGraphicFramePr>
        <p:xfrm>
          <a:off x="2524125" y="1375194"/>
          <a:ext cx="3333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Imagen de mapa de bits" r:id="rId6" imgW="333360" imgH="314280" progId="Paint.Picture">
                  <p:embed/>
                </p:oleObj>
              </mc:Choice>
              <mc:Fallback>
                <p:oleObj name="Imagen de mapa de bits" r:id="rId6" imgW="333360" imgH="314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24125" y="1375194"/>
                        <a:ext cx="33337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xmlns="" id="{B7F66EA5-4157-FC5A-5777-2D38F3B4C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846213"/>
              </p:ext>
            </p:extLst>
          </p:nvPr>
        </p:nvGraphicFramePr>
        <p:xfrm>
          <a:off x="2190750" y="3278307"/>
          <a:ext cx="3333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Imagen de mapa de bits" r:id="rId8" imgW="333360" imgH="276120" progId="Paint.Picture">
                  <p:embed/>
                </p:oleObj>
              </mc:Choice>
              <mc:Fallback>
                <p:oleObj name="Imagen de mapa de bits" r:id="rId8" imgW="333360" imgH="2761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90750" y="3278307"/>
                        <a:ext cx="333375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xmlns="" id="{C6BBFD98-CE28-25CE-75ED-1BC8B5741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6914"/>
              </p:ext>
            </p:extLst>
          </p:nvPr>
        </p:nvGraphicFramePr>
        <p:xfrm>
          <a:off x="626337" y="2682222"/>
          <a:ext cx="3524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Imagen de mapa de bits" r:id="rId10" imgW="352440" imgH="285840" progId="Paint.Picture">
                  <p:embed/>
                </p:oleObj>
              </mc:Choice>
              <mc:Fallback>
                <p:oleObj name="Imagen de mapa de bits" r:id="rId10" imgW="352440" imgH="285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337" y="2682222"/>
                        <a:ext cx="3524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34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94" y="886118"/>
            <a:ext cx="11364911" cy="345805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822999" y="5160407"/>
            <a:ext cx="146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Capas ocultas</a:t>
            </a:r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584994" y="5166241"/>
            <a:ext cx="181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Capas de entrada</a:t>
            </a:r>
            <a:endParaRPr lang="es-MX" dirty="0"/>
          </a:p>
        </p:txBody>
      </p:sp>
      <p:sp>
        <p:nvSpPr>
          <p:cNvPr id="7" name="CuadroTexto 6"/>
          <p:cNvSpPr txBox="1"/>
          <p:nvPr/>
        </p:nvSpPr>
        <p:spPr>
          <a:xfrm>
            <a:off x="10278308" y="5160407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 de Salida</a:t>
            </a:r>
            <a:endParaRPr lang="es-MX" dirty="0"/>
          </a:p>
        </p:txBody>
      </p:sp>
      <p:sp>
        <p:nvSpPr>
          <p:cNvPr id="8" name="Abrir llave 7"/>
          <p:cNvSpPr/>
          <p:nvPr/>
        </p:nvSpPr>
        <p:spPr>
          <a:xfrm rot="16200000">
            <a:off x="6366201" y="2848410"/>
            <a:ext cx="376240" cy="38077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Abrir llave 8"/>
          <p:cNvSpPr/>
          <p:nvPr/>
        </p:nvSpPr>
        <p:spPr>
          <a:xfrm rot="16200000">
            <a:off x="1219670" y="3935959"/>
            <a:ext cx="376240" cy="16455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Abrir llave 9"/>
          <p:cNvSpPr/>
          <p:nvPr/>
        </p:nvSpPr>
        <p:spPr>
          <a:xfrm rot="16200000">
            <a:off x="10907048" y="4042777"/>
            <a:ext cx="376240" cy="1463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/>
          <p:cNvSpPr txBox="1"/>
          <p:nvPr/>
        </p:nvSpPr>
        <p:spPr>
          <a:xfrm>
            <a:off x="4574261" y="296791"/>
            <a:ext cx="338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Arquitectura de una red neuronal: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861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1050" y="685800"/>
            <a:ext cx="10515600" cy="5543550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Tx/>
              <a:buChar char="-"/>
            </a:pPr>
            <a:r>
              <a:rPr lang="en-US" sz="3200" b="1" dirty="0"/>
              <a:t>The sigmoid </a:t>
            </a:r>
            <a:r>
              <a:rPr lang="en-US" sz="3200" b="1" dirty="0" smtClean="0"/>
              <a:t>function</a:t>
            </a:r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endParaRPr lang="en-US" sz="3200" b="1" dirty="0" smtClean="0"/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r>
              <a:rPr lang="es-MX" sz="3200" b="1" dirty="0" err="1"/>
              <a:t>The</a:t>
            </a:r>
            <a:r>
              <a:rPr lang="es-MX" sz="3200" b="1" dirty="0"/>
              <a:t> </a:t>
            </a:r>
            <a:r>
              <a:rPr lang="es-MX" sz="3200" b="1" dirty="0" err="1"/>
              <a:t>tanh</a:t>
            </a:r>
            <a:r>
              <a:rPr lang="es-MX" sz="3200" b="1" dirty="0"/>
              <a:t> </a:t>
            </a:r>
            <a:r>
              <a:rPr lang="es-MX" sz="3200" b="1" dirty="0" err="1" smtClean="0"/>
              <a:t>function</a:t>
            </a:r>
            <a:endParaRPr lang="es-MX" sz="3200" b="1" dirty="0" smtClean="0"/>
          </a:p>
          <a:p>
            <a:pPr marL="342900" indent="-342900" algn="just">
              <a:buFontTx/>
              <a:buChar char="-"/>
            </a:pPr>
            <a:endParaRPr lang="es-MX" sz="3200" b="1" dirty="0"/>
          </a:p>
          <a:p>
            <a:pPr marL="342900" indent="-342900" algn="just">
              <a:buFontTx/>
              <a:buChar char="-"/>
            </a:pPr>
            <a:endParaRPr lang="es-MX" sz="3200" b="1" dirty="0" smtClean="0"/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r>
              <a:rPr lang="en-US" sz="3200" b="1" dirty="0"/>
              <a:t>The Rectified Linear Unit </a:t>
            </a:r>
            <a:r>
              <a:rPr lang="en-US" sz="3200" b="1" dirty="0" smtClean="0"/>
              <a:t>function</a:t>
            </a:r>
          </a:p>
          <a:p>
            <a:pPr marL="0" indent="0" algn="just">
              <a:buNone/>
            </a:pPr>
            <a:r>
              <a:rPr lang="en-US" sz="3200" b="1" dirty="0" smtClean="0"/>
              <a:t>(</a:t>
            </a:r>
            <a:r>
              <a:rPr lang="en-US" sz="3200" b="1" dirty="0" err="1" smtClean="0"/>
              <a:t>ReLu</a:t>
            </a:r>
            <a:r>
              <a:rPr lang="en-US" sz="3200" b="1" dirty="0" smtClean="0"/>
              <a:t>)</a:t>
            </a:r>
            <a:endParaRPr lang="en-US" sz="3200" b="1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27" y="233098"/>
            <a:ext cx="3940373" cy="22719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298" y="2310751"/>
            <a:ext cx="4939228" cy="24281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413" y="4794911"/>
            <a:ext cx="3765009" cy="188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83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1" y="166254"/>
            <a:ext cx="10515600" cy="1325563"/>
          </a:xfrm>
        </p:spPr>
        <p:txBody>
          <a:bodyPr/>
          <a:lstStyle/>
          <a:p>
            <a:pPr algn="ctr"/>
            <a:r>
              <a:rPr lang="es-MX" dirty="0" err="1" smtClean="0"/>
              <a:t>Backpropagation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1" y="1825625"/>
            <a:ext cx="50804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dirty="0"/>
              <a:t>El </a:t>
            </a:r>
            <a:r>
              <a:rPr lang="es-MX" sz="2000" dirty="0" err="1"/>
              <a:t>backpropagation</a:t>
            </a:r>
            <a:r>
              <a:rPr lang="es-MX" sz="2000" dirty="0"/>
              <a:t> </a:t>
            </a:r>
            <a:r>
              <a:rPr lang="es-MX" sz="2000" dirty="0" smtClean="0"/>
              <a:t>es </a:t>
            </a:r>
            <a:r>
              <a:rPr lang="es-MX" sz="2000" dirty="0"/>
              <a:t>el algoritmo que hizo posible entrenar redes neuronales con varias capas, y sin él el </a:t>
            </a:r>
            <a:r>
              <a:rPr lang="es-MX" sz="2000" dirty="0" err="1"/>
              <a:t>deep</a:t>
            </a:r>
            <a:r>
              <a:rPr lang="es-MX" sz="2000" dirty="0"/>
              <a:t> </a:t>
            </a:r>
            <a:r>
              <a:rPr lang="es-MX" sz="2000" dirty="0" err="1"/>
              <a:t>learning</a:t>
            </a:r>
            <a:r>
              <a:rPr lang="es-MX" sz="2000" dirty="0"/>
              <a:t> simplemente no existiría como lo conocemos. </a:t>
            </a:r>
            <a:endParaRPr lang="es-MX" sz="2000" dirty="0" smtClean="0"/>
          </a:p>
          <a:p>
            <a:pPr marL="0" indent="0">
              <a:buNone/>
            </a:pPr>
            <a:r>
              <a:rPr lang="es-MX" sz="2000" dirty="0" smtClean="0"/>
              <a:t>La </a:t>
            </a:r>
            <a:r>
              <a:rPr lang="es-MX" sz="2000" dirty="0"/>
              <a:t>idea es sencilla en el fondo: la red hace una predicción, se calcula qué tan lejos quedó del valor correcto (el error), y ese error se propaga hacia atrás, capa por capa, ajustando los pesos de cada neurona según qué tanto contribuyó al error final. </a:t>
            </a:r>
            <a:endParaRPr lang="es-MX" sz="2000" dirty="0" smtClean="0"/>
          </a:p>
          <a:p>
            <a:pPr marL="0" indent="0">
              <a:buNone/>
            </a:pPr>
            <a:r>
              <a:rPr lang="es-MX" sz="2000" dirty="0" smtClean="0"/>
              <a:t>Matemáticamente </a:t>
            </a:r>
            <a:r>
              <a:rPr lang="es-MX" sz="2000" dirty="0"/>
              <a:t>se apoya en la regla de la cadena del cálculo diferencial, que permite calcular de forma eficiente cómo cambiar miles o millones de parámetros a la vez en lugar de uno por uno. </a:t>
            </a:r>
          </a:p>
        </p:txBody>
      </p:sp>
      <p:pic>
        <p:nvPicPr>
          <p:cNvPr id="5122" name="Picture 2" descr="File:Diagrama de red neuronal artifici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615" y="2128058"/>
            <a:ext cx="5610995" cy="306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 derecha 3"/>
          <p:cNvSpPr/>
          <p:nvPr/>
        </p:nvSpPr>
        <p:spPr>
          <a:xfrm>
            <a:off x="8110210" y="1445462"/>
            <a:ext cx="1961803" cy="490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Flecha derecha 4"/>
          <p:cNvSpPr/>
          <p:nvPr/>
        </p:nvSpPr>
        <p:spPr>
          <a:xfrm flipH="1">
            <a:off x="7980218" y="5631902"/>
            <a:ext cx="2019993" cy="47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/>
          <p:cNvSpPr txBox="1"/>
          <p:nvPr/>
        </p:nvSpPr>
        <p:spPr>
          <a:xfrm>
            <a:off x="8196349" y="6292735"/>
            <a:ext cx="175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 smtClean="0"/>
              <a:t>backpropagation</a:t>
            </a:r>
            <a:endParaRPr lang="es-MX" dirty="0"/>
          </a:p>
        </p:txBody>
      </p:sp>
      <p:sp>
        <p:nvSpPr>
          <p:cNvPr id="8" name="CuadroTexto 7"/>
          <p:cNvSpPr txBox="1"/>
          <p:nvPr/>
        </p:nvSpPr>
        <p:spPr>
          <a:xfrm>
            <a:off x="8009473" y="1164724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Forward </a:t>
            </a:r>
            <a:r>
              <a:rPr lang="es-MX" dirty="0" err="1" smtClean="0"/>
              <a:t>propagation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6862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8478" y="0"/>
            <a:ext cx="10515600" cy="1325563"/>
          </a:xfrm>
        </p:spPr>
        <p:txBody>
          <a:bodyPr/>
          <a:lstStyle/>
          <a:p>
            <a:pPr algn="ctr"/>
            <a:r>
              <a:rPr lang="es-MX" dirty="0" smtClean="0"/>
              <a:t>Ejemplos de Modelos de ML y DP</a:t>
            </a:r>
            <a:endParaRPr lang="es-MX" dirty="0"/>
          </a:p>
        </p:txBody>
      </p:sp>
      <p:pic>
        <p:nvPicPr>
          <p:cNvPr id="11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33"/>
          <a:stretch/>
        </p:blipFill>
        <p:spPr>
          <a:xfrm>
            <a:off x="158905" y="5319341"/>
            <a:ext cx="4451195" cy="153865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05" y="1011238"/>
            <a:ext cx="3800475" cy="23651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80" y="1029342"/>
            <a:ext cx="3652684" cy="234699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83" y="3394444"/>
            <a:ext cx="3837797" cy="233009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/>
          <a:srcRect r="11918"/>
          <a:stretch/>
        </p:blipFill>
        <p:spPr>
          <a:xfrm>
            <a:off x="7612064" y="1449312"/>
            <a:ext cx="3272509" cy="105742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077" y="3314661"/>
            <a:ext cx="3257925" cy="248965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1702" y="3009426"/>
            <a:ext cx="1585994" cy="166335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1025" y="4942677"/>
            <a:ext cx="2800806" cy="156371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5039" y="3175635"/>
            <a:ext cx="1028844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31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9" y="189212"/>
            <a:ext cx="6820491" cy="4792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255887"/>
            <a:ext cx="3857625" cy="324264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3498529"/>
            <a:ext cx="3686487" cy="301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2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3" y="252033"/>
            <a:ext cx="7935951" cy="50914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232" r="7593"/>
          <a:stretch/>
        </p:blipFill>
        <p:spPr>
          <a:xfrm>
            <a:off x="7686675" y="1802955"/>
            <a:ext cx="4429125" cy="35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3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22" y="603605"/>
            <a:ext cx="6329926" cy="50594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948" y="1314102"/>
            <a:ext cx="5328942" cy="343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764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</TotalTime>
  <Words>768</Words>
  <Application>Microsoft Office PowerPoint</Application>
  <PresentationFormat>Panorámica</PresentationFormat>
  <Paragraphs>59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Retrospección</vt:lpstr>
      <vt:lpstr>Imagen de mapa de bits</vt:lpstr>
      <vt:lpstr>Introducción al  Machine &amp; Deep Learning</vt:lpstr>
      <vt:lpstr>Presentación de PowerPoint</vt:lpstr>
      <vt:lpstr>Presentación de PowerPoint</vt:lpstr>
      <vt:lpstr>Antecedentes</vt:lpstr>
      <vt:lpstr>Antecedentes</vt:lpstr>
      <vt:lpstr>Machine Learning</vt:lpstr>
      <vt:lpstr>Tipos de Algoritmos de Machine Learning</vt:lpstr>
      <vt:lpstr>Ejemplos de Algoritmos de Machine Learning</vt:lpstr>
      <vt:lpstr>Presentación de PowerPoint</vt:lpstr>
      <vt:lpstr>Deep Learning</vt:lpstr>
      <vt:lpstr>Presentación de PowerPoint</vt:lpstr>
      <vt:lpstr>Presentación de PowerPoint</vt:lpstr>
      <vt:lpstr>Presentación de PowerPoint</vt:lpstr>
      <vt:lpstr>Backpropagation</vt:lpstr>
      <vt:lpstr>Ejemplos de Modelos de ML y DP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&amp; Deep Learning</dc:title>
  <dc:creator>user</dc:creator>
  <cp:lastModifiedBy>user</cp:lastModifiedBy>
  <cp:revision>13</cp:revision>
  <dcterms:created xsi:type="dcterms:W3CDTF">2026-08-28T19:55:39Z</dcterms:created>
  <dcterms:modified xsi:type="dcterms:W3CDTF">2026-09-25T01:07:03Z</dcterms:modified>
</cp:coreProperties>
</file>