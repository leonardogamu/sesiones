
<file path=[Content_Types].xml><?xml version="1.0" encoding="utf-8"?>
<Types xmlns="http://schemas.openxmlformats.org/package/2006/content-types">
  <Default Extension="png" ContentType="image/png"/>
  <Default Extension="bin" ContentType="application/vnd.openxmlformats-officedocument.oleObject"/>
  <Default Extension="jpeg" ContentType="image/jpeg"/>
  <Default Extension="wmf" ContentType="image/x-wmf"/>
  <Default Extension="rels" ContentType="application/vnd.openxmlformats-package.relationships+xml"/>
  <Default Extension="xml" ContentType="application/xml"/>
  <Default Extension="vml" ContentType="application/vnd.openxmlformats-officedocument.vmlDrawi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1" r:id="rId3"/>
    <p:sldId id="259" r:id="rId4"/>
    <p:sldId id="270" r:id="rId5"/>
    <p:sldId id="258" r:id="rId6"/>
    <p:sldId id="262" r:id="rId7"/>
    <p:sldId id="263" r:id="rId8"/>
    <p:sldId id="265" r:id="rId9"/>
    <p:sldId id="260" r:id="rId10"/>
    <p:sldId id="266" r:id="rId11"/>
    <p:sldId id="267" r:id="rId12"/>
    <p:sldId id="268" r:id="rId13"/>
    <p:sldId id="269" r:id="rId14"/>
    <p:sldId id="264" r:id="rId15"/>
  </p:sldIdLst>
  <p:sldSz cx="12192000" cy="6858000"/>
  <p:notesSz cx="6858000" cy="9144000"/>
  <p:defaultTextStyle>
    <a:defPPr>
      <a:defRPr lang="es-MX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>
        <p:scale>
          <a:sx n="100" d="100"/>
          <a:sy n="100" d="100"/>
        </p:scale>
        <p:origin x="936" y="4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rawings/_rels/vmlDrawing1.vml.rels><?xml version="1.0" encoding="UTF-8" standalone="yes"?>
<Relationships xmlns="http://schemas.openxmlformats.org/package/2006/relationships"><Relationship Id="rId3" Type="http://schemas.openxmlformats.org/officeDocument/2006/relationships/image" Target="../media/image15.wmf"/><Relationship Id="rId2" Type="http://schemas.openxmlformats.org/officeDocument/2006/relationships/image" Target="../media/image14.wmf"/><Relationship Id="rId1" Type="http://schemas.openxmlformats.org/officeDocument/2006/relationships/image" Target="../media/image13.wmf"/><Relationship Id="rId4" Type="http://schemas.openxmlformats.org/officeDocument/2006/relationships/image" Target="../media/image16.wmf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 smtClean="0"/>
              <a:t>Haga clic para modificar el estilo de título del patrón</a:t>
            </a:r>
            <a:endParaRPr lang="es-MX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 smtClean="0"/>
              <a:t>Haga clic para modificar el estilo de subtítulo del patrón</a:t>
            </a:r>
            <a:endParaRPr lang="es-MX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3D3BBE-9940-460B-9540-AB926AE0EC68}" type="datetimeFigureOut">
              <a:rPr lang="es-MX" smtClean="0"/>
              <a:t>28/08/2026</a:t>
            </a:fld>
            <a:endParaRPr lang="es-MX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67C01E-5F16-40BE-9611-EE70072DE31C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4864475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MX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MX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3D3BBE-9940-460B-9540-AB926AE0EC68}" type="datetimeFigureOut">
              <a:rPr lang="es-MX" smtClean="0"/>
              <a:t>28/08/2026</a:t>
            </a:fld>
            <a:endParaRPr lang="es-MX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67C01E-5F16-40BE-9611-EE70072DE31C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462171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 smtClean="0"/>
              <a:t>Haga clic para modificar el estilo de título del patrón</a:t>
            </a:r>
            <a:endParaRPr lang="es-MX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3D3BBE-9940-460B-9540-AB926AE0EC68}" type="datetimeFigureOut">
              <a:rPr lang="es-MX" smtClean="0"/>
              <a:t>28/08/2026</a:t>
            </a:fld>
            <a:endParaRPr lang="es-MX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67C01E-5F16-40BE-9611-EE70072DE31C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8131506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MX"/>
          </a:p>
        </p:txBody>
      </p:sp>
      <p:sp>
        <p:nvSpPr>
          <p:cNvPr id="3" name="Marcador de conteni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MX"/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MX"/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3D3BBE-9940-460B-9540-AB926AE0EC68}" type="datetimeFigureOut">
              <a:rPr lang="es-MX" smtClean="0"/>
              <a:t>28/08/2026</a:t>
            </a:fld>
            <a:endParaRPr lang="es-MX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67C01E-5F16-40BE-9611-EE70072DE31C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3510621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MX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MX"/>
          </a:p>
        </p:txBody>
      </p:sp>
      <p:sp>
        <p:nvSpPr>
          <p:cNvPr id="5" name="Marcador de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6" name="Marcador de conteni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MX"/>
          </a:p>
        </p:txBody>
      </p:sp>
      <p:sp>
        <p:nvSpPr>
          <p:cNvPr id="7" name="Marcador de fech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3D3BBE-9940-460B-9540-AB926AE0EC68}" type="datetimeFigureOut">
              <a:rPr lang="es-MX" smtClean="0"/>
              <a:t>28/08/2026</a:t>
            </a:fld>
            <a:endParaRPr lang="es-MX"/>
          </a:p>
        </p:txBody>
      </p:sp>
      <p:sp>
        <p:nvSpPr>
          <p:cNvPr id="8" name="Marcador de pie de página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9" name="Marcador de número de diapositiva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67C01E-5F16-40BE-9611-EE70072DE31C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6587122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MX"/>
          </a:p>
        </p:txBody>
      </p:sp>
      <p:sp>
        <p:nvSpPr>
          <p:cNvPr id="3" name="Marcador de fech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3D3BBE-9940-460B-9540-AB926AE0EC68}" type="datetimeFigureOut">
              <a:rPr lang="es-MX" smtClean="0"/>
              <a:t>28/08/2026</a:t>
            </a:fld>
            <a:endParaRPr lang="es-MX"/>
          </a:p>
        </p:txBody>
      </p:sp>
      <p:sp>
        <p:nvSpPr>
          <p:cNvPr id="4" name="Marcador de pie de página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67C01E-5F16-40BE-9611-EE70072DE31C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2620434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3D3BBE-9940-460B-9540-AB926AE0EC68}" type="datetimeFigureOut">
              <a:rPr lang="es-MX" smtClean="0"/>
              <a:t>28/08/2026</a:t>
            </a:fld>
            <a:endParaRPr lang="es-MX"/>
          </a:p>
        </p:txBody>
      </p:sp>
      <p:sp>
        <p:nvSpPr>
          <p:cNvPr id="3" name="Marcador de pie de página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67C01E-5F16-40BE-9611-EE70072DE31C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9320417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 smtClean="0"/>
              <a:t>Haga clic para modificar el estilo de título del patrón</a:t>
            </a:r>
            <a:endParaRPr lang="es-MX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MX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3D3BBE-9940-460B-9540-AB926AE0EC68}" type="datetimeFigureOut">
              <a:rPr lang="es-MX" smtClean="0"/>
              <a:t>28/08/2026</a:t>
            </a:fld>
            <a:endParaRPr lang="es-MX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67C01E-5F16-40BE-9611-EE70072DE31C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8540683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 smtClean="0"/>
              <a:t>Haga clic para modificar el estilo de título del patrón</a:t>
            </a:r>
            <a:endParaRPr lang="es-MX"/>
          </a:p>
        </p:txBody>
      </p:sp>
      <p:sp>
        <p:nvSpPr>
          <p:cNvPr id="3" name="Marcador de posición de imagen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MX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3D3BBE-9940-460B-9540-AB926AE0EC68}" type="datetimeFigureOut">
              <a:rPr lang="es-MX" smtClean="0"/>
              <a:t>28/08/2026</a:t>
            </a:fld>
            <a:endParaRPr lang="es-MX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67C01E-5F16-40BE-9611-EE70072DE31C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40116696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MX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MX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3D3BBE-9940-460B-9540-AB926AE0EC68}" type="datetimeFigureOut">
              <a:rPr lang="es-MX" smtClean="0"/>
              <a:t>28/08/2026</a:t>
            </a:fld>
            <a:endParaRPr lang="es-MX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67C01E-5F16-40BE-9611-EE70072DE31C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299771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 smtClean="0"/>
              <a:t>Haga clic para modificar el estilo de título del patrón</a:t>
            </a:r>
            <a:endParaRPr lang="es-MX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MX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3D3BBE-9940-460B-9540-AB926AE0EC68}" type="datetimeFigureOut">
              <a:rPr lang="es-MX" smtClean="0"/>
              <a:t>28/08/2026</a:t>
            </a:fld>
            <a:endParaRPr lang="es-MX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67C01E-5F16-40BE-9611-EE70072DE31C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6178025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 smtClean="0"/>
              <a:t>Haga clic para modificar el estilo de título del patrón</a:t>
            </a:r>
            <a:endParaRPr lang="es-MX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MX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3D3BBE-9940-460B-9540-AB926AE0EC68}" type="datetimeFigureOut">
              <a:rPr lang="es-MX" smtClean="0"/>
              <a:t>28/08/2026</a:t>
            </a:fld>
            <a:endParaRPr lang="es-MX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MX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567C01E-5F16-40BE-9611-EE70072DE31C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3387305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MX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3.bin"/><Relationship Id="rId3" Type="http://schemas.openxmlformats.org/officeDocument/2006/relationships/image" Target="../media/image17.png"/><Relationship Id="rId7" Type="http://schemas.openxmlformats.org/officeDocument/2006/relationships/image" Target="../media/image14.wmf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1.vml"/><Relationship Id="rId6" Type="http://schemas.openxmlformats.org/officeDocument/2006/relationships/oleObject" Target="../embeddings/oleObject2.bin"/><Relationship Id="rId11" Type="http://schemas.openxmlformats.org/officeDocument/2006/relationships/image" Target="../media/image16.wmf"/><Relationship Id="rId5" Type="http://schemas.openxmlformats.org/officeDocument/2006/relationships/image" Target="../media/image13.wmf"/><Relationship Id="rId10" Type="http://schemas.openxmlformats.org/officeDocument/2006/relationships/oleObject" Target="../embeddings/oleObject4.bin"/><Relationship Id="rId4" Type="http://schemas.openxmlformats.org/officeDocument/2006/relationships/oleObject" Target="../embeddings/oleObject1.bin"/><Relationship Id="rId9" Type="http://schemas.openxmlformats.org/officeDocument/2006/relationships/image" Target="../media/image15.wmf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24.png"/><Relationship Id="rId7" Type="http://schemas.openxmlformats.org/officeDocument/2006/relationships/image" Target="../media/image28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10" Type="http://schemas.openxmlformats.org/officeDocument/2006/relationships/image" Target="../media/image31.png"/><Relationship Id="rId4" Type="http://schemas.openxmlformats.org/officeDocument/2006/relationships/image" Target="../media/image25.png"/><Relationship Id="rId9" Type="http://schemas.openxmlformats.org/officeDocument/2006/relationships/image" Target="../media/image3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s-MX" dirty="0" smtClean="0"/>
              <a:t>Machine &amp; Deep </a:t>
            </a:r>
            <a:r>
              <a:rPr lang="es-MX" dirty="0" err="1" smtClean="0"/>
              <a:t>Learning</a:t>
            </a:r>
            <a:endParaRPr lang="es-MX" dirty="0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s-MX" b="1" dirty="0" smtClean="0"/>
              <a:t>Sesión 1</a:t>
            </a:r>
            <a:endParaRPr lang="es-MX" b="1" dirty="0"/>
          </a:p>
        </p:txBody>
      </p:sp>
    </p:spTree>
    <p:extLst>
      <p:ext uri="{BB962C8B-B14F-4D97-AF65-F5344CB8AC3E}">
        <p14:creationId xmlns:p14="http://schemas.microsoft.com/office/powerpoint/2010/main" val="27986938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s-MX" dirty="0" smtClean="0"/>
              <a:t>Machine </a:t>
            </a:r>
            <a:r>
              <a:rPr lang="es-MX" dirty="0" err="1" smtClean="0"/>
              <a:t>Learning</a:t>
            </a:r>
            <a:endParaRPr lang="es-MX" dirty="0"/>
          </a:p>
        </p:txBody>
      </p:sp>
      <p:pic>
        <p:nvPicPr>
          <p:cNvPr id="4" name="Marcador de contenido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37085" y="3026844"/>
            <a:ext cx="8852341" cy="2789756"/>
          </a:xfrm>
          <a:prstGeom prst="rect">
            <a:avLst/>
          </a:prstGeom>
        </p:spPr>
      </p:pic>
      <p:sp>
        <p:nvSpPr>
          <p:cNvPr id="5" name="CuadroTexto 4"/>
          <p:cNvSpPr txBox="1"/>
          <p:nvPr/>
        </p:nvSpPr>
        <p:spPr>
          <a:xfrm>
            <a:off x="1386378" y="1841836"/>
            <a:ext cx="99674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/>
              <a:t>R</a:t>
            </a:r>
            <a:r>
              <a:rPr lang="es-MX" dirty="0" smtClean="0"/>
              <a:t>ama </a:t>
            </a:r>
            <a:r>
              <a:rPr lang="es-MX" dirty="0"/>
              <a:t>de </a:t>
            </a:r>
            <a:r>
              <a:rPr lang="es-MX" dirty="0" smtClean="0"/>
              <a:t>la inteligencia artificial que </a:t>
            </a:r>
            <a:r>
              <a:rPr lang="es-MX" dirty="0"/>
              <a:t>permite a las computadoras aprender de los datos y mejorar su </a:t>
            </a:r>
            <a:r>
              <a:rPr lang="es-MX" dirty="0" smtClean="0"/>
              <a:t>conocimiento mediante </a:t>
            </a:r>
            <a:r>
              <a:rPr lang="es-MX" dirty="0"/>
              <a:t>la experiencia, sin necesidad de ser programadas explícitamente para cada tarea.</a:t>
            </a:r>
          </a:p>
        </p:txBody>
      </p:sp>
    </p:spTree>
    <p:extLst>
      <p:ext uri="{BB962C8B-B14F-4D97-AF65-F5344CB8AC3E}">
        <p14:creationId xmlns:p14="http://schemas.microsoft.com/office/powerpoint/2010/main" val="25734976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875" y="1990197"/>
            <a:ext cx="3375026" cy="4055331"/>
          </a:xfrm>
          <a:prstGeom prst="rect">
            <a:avLst/>
          </a:prstGeom>
        </p:spPr>
      </p:pic>
      <p:pic>
        <p:nvPicPr>
          <p:cNvPr id="5" name="Imagen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62475" y="1940002"/>
            <a:ext cx="3378199" cy="4155720"/>
          </a:xfrm>
          <a:prstGeom prst="rect">
            <a:avLst/>
          </a:prstGeom>
        </p:spPr>
      </p:pic>
      <p:pic>
        <p:nvPicPr>
          <p:cNvPr id="6" name="Imagen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1" y="2105348"/>
            <a:ext cx="3190872" cy="3940180"/>
          </a:xfrm>
          <a:prstGeom prst="rect">
            <a:avLst/>
          </a:prstGeom>
        </p:spPr>
      </p:pic>
      <p:sp>
        <p:nvSpPr>
          <p:cNvPr id="7" name="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pPr algn="ctr"/>
            <a:r>
              <a:rPr lang="es-MX" dirty="0" smtClean="0"/>
              <a:t>Tipos de Algoritmos de Machine </a:t>
            </a:r>
            <a:r>
              <a:rPr lang="es-MX" dirty="0" err="1" smtClean="0"/>
              <a:t>Learning</a:t>
            </a:r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21990608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/>
          <p:cNvSpPr>
            <a:spLocks noGrp="1"/>
          </p:cNvSpPr>
          <p:nvPr>
            <p:ph type="title"/>
          </p:nvPr>
        </p:nvSpPr>
        <p:spPr>
          <a:xfrm>
            <a:off x="980801" y="263"/>
            <a:ext cx="10515600" cy="1325563"/>
          </a:xfrm>
        </p:spPr>
        <p:txBody>
          <a:bodyPr/>
          <a:lstStyle/>
          <a:p>
            <a:pPr algn="ctr"/>
            <a:r>
              <a:rPr lang="es-MX" dirty="0" smtClean="0"/>
              <a:t>Ejemplos de Algoritmos de Machine </a:t>
            </a:r>
            <a:r>
              <a:rPr lang="es-MX" dirty="0" err="1" smtClean="0"/>
              <a:t>Learning</a:t>
            </a:r>
            <a:endParaRPr lang="es-MX" dirty="0"/>
          </a:p>
        </p:txBody>
      </p:sp>
      <p:pic>
        <p:nvPicPr>
          <p:cNvPr id="5" name="Imagen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523" y="4155273"/>
            <a:ext cx="2548385" cy="2378493"/>
          </a:xfrm>
          <a:prstGeom prst="rect">
            <a:avLst/>
          </a:prstGeom>
        </p:spPr>
      </p:pic>
      <p:pic>
        <p:nvPicPr>
          <p:cNvPr id="6" name="Imagen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81083" y="4081327"/>
            <a:ext cx="2629342" cy="2526386"/>
          </a:xfrm>
          <a:prstGeom prst="rect">
            <a:avLst/>
          </a:prstGeom>
        </p:spPr>
      </p:pic>
      <p:pic>
        <p:nvPicPr>
          <p:cNvPr id="7" name="Imagen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79821" y="4355072"/>
            <a:ext cx="3440678" cy="2252641"/>
          </a:xfrm>
          <a:prstGeom prst="rect">
            <a:avLst/>
          </a:prstGeom>
        </p:spPr>
      </p:pic>
      <p:sp>
        <p:nvSpPr>
          <p:cNvPr id="8" name="CuadroTexto 7"/>
          <p:cNvSpPr txBox="1"/>
          <p:nvPr/>
        </p:nvSpPr>
        <p:spPr>
          <a:xfrm>
            <a:off x="1112497" y="1325824"/>
            <a:ext cx="179780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MX" dirty="0" smtClean="0"/>
              <a:t>K-</a:t>
            </a:r>
            <a:r>
              <a:rPr lang="es-MX" dirty="0" err="1" smtClean="0"/>
              <a:t>Means</a:t>
            </a:r>
            <a:endParaRPr lang="es-MX" dirty="0" smtClean="0"/>
          </a:p>
          <a:p>
            <a:pPr algn="ctr"/>
            <a:r>
              <a:rPr lang="es-MX" dirty="0" smtClean="0"/>
              <a:t>(No Supervisado)</a:t>
            </a:r>
            <a:endParaRPr lang="es-MX" dirty="0"/>
          </a:p>
        </p:txBody>
      </p:sp>
      <p:sp>
        <p:nvSpPr>
          <p:cNvPr id="9" name="CuadroTexto 8"/>
          <p:cNvSpPr txBox="1"/>
          <p:nvPr/>
        </p:nvSpPr>
        <p:spPr>
          <a:xfrm>
            <a:off x="4839792" y="1325826"/>
            <a:ext cx="167161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MX" dirty="0" smtClean="0"/>
              <a:t>Regresión Lasso</a:t>
            </a:r>
          </a:p>
          <a:p>
            <a:pPr algn="ctr"/>
            <a:r>
              <a:rPr lang="es-MX" dirty="0" smtClean="0"/>
              <a:t>(Supervisado)</a:t>
            </a:r>
            <a:endParaRPr lang="es-MX" dirty="0"/>
          </a:p>
        </p:txBody>
      </p:sp>
      <p:sp>
        <p:nvSpPr>
          <p:cNvPr id="10" name="CuadroTexto 9"/>
          <p:cNvSpPr txBox="1"/>
          <p:nvPr/>
        </p:nvSpPr>
        <p:spPr>
          <a:xfrm>
            <a:off x="8835986" y="1325825"/>
            <a:ext cx="162307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MX" dirty="0" err="1" smtClean="0"/>
              <a:t>Random</a:t>
            </a:r>
            <a:r>
              <a:rPr lang="es-MX" dirty="0" smtClean="0"/>
              <a:t> </a:t>
            </a:r>
            <a:r>
              <a:rPr lang="es-MX" dirty="0" err="1" smtClean="0"/>
              <a:t>Forest</a:t>
            </a:r>
            <a:endParaRPr lang="es-MX" dirty="0" smtClean="0"/>
          </a:p>
          <a:p>
            <a:pPr algn="ctr"/>
            <a:r>
              <a:rPr lang="es-MX" dirty="0" smtClean="0"/>
              <a:t>(Supervisado)</a:t>
            </a:r>
            <a:endParaRPr lang="es-MX" dirty="0"/>
          </a:p>
        </p:txBody>
      </p:sp>
      <p:pic>
        <p:nvPicPr>
          <p:cNvPr id="14" name="Imagen 13"/>
          <p:cNvPicPr>
            <a:picLocks noChangeAspect="1"/>
          </p:cNvPicPr>
          <p:nvPr/>
        </p:nvPicPr>
        <p:blipFill rotWithShape="1">
          <a:blip r:embed="rId5"/>
          <a:srcRect t="3818"/>
          <a:stretch/>
        </p:blipFill>
        <p:spPr>
          <a:xfrm>
            <a:off x="3932805" y="2130923"/>
            <a:ext cx="3582420" cy="1687349"/>
          </a:xfrm>
          <a:prstGeom prst="rect">
            <a:avLst/>
          </a:prstGeom>
        </p:spPr>
      </p:pic>
      <p:pic>
        <p:nvPicPr>
          <p:cNvPr id="15" name="Imagen 1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5105" y="2063961"/>
            <a:ext cx="3717700" cy="1863162"/>
          </a:xfrm>
          <a:prstGeom prst="rect">
            <a:avLst/>
          </a:prstGeom>
        </p:spPr>
      </p:pic>
      <p:pic>
        <p:nvPicPr>
          <p:cNvPr id="16" name="Imagen 15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72702" y="2006548"/>
            <a:ext cx="3547797" cy="23141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49109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s-MX" dirty="0" smtClean="0"/>
              <a:t>Deep </a:t>
            </a:r>
            <a:r>
              <a:rPr lang="es-MX" dirty="0" err="1" smtClean="0"/>
              <a:t>Learning</a:t>
            </a:r>
            <a:endParaRPr lang="es-MX" dirty="0"/>
          </a:p>
        </p:txBody>
      </p:sp>
      <p:sp>
        <p:nvSpPr>
          <p:cNvPr id="8" name="Rectángulo 7"/>
          <p:cNvSpPr/>
          <p:nvPr/>
        </p:nvSpPr>
        <p:spPr>
          <a:xfrm>
            <a:off x="1390650" y="1690688"/>
            <a:ext cx="9963150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MX" dirty="0"/>
              <a:t>S</a:t>
            </a:r>
            <a:r>
              <a:rPr lang="es-MX" dirty="0" smtClean="0"/>
              <a:t>ubcategoría del machine </a:t>
            </a:r>
            <a:r>
              <a:rPr lang="es-MX" dirty="0" err="1" smtClean="0"/>
              <a:t>learning</a:t>
            </a:r>
            <a:r>
              <a:rPr lang="es-MX" dirty="0" smtClean="0"/>
              <a:t> e inteligencia artificial que utiliza redes neuronales artificiales con múltiples capas para aprender de grandes volúmenes de datos, el </a:t>
            </a:r>
            <a:r>
              <a:rPr lang="es-MX" dirty="0" err="1" smtClean="0"/>
              <a:t>deep</a:t>
            </a:r>
            <a:r>
              <a:rPr lang="es-MX" dirty="0" smtClean="0"/>
              <a:t> </a:t>
            </a:r>
            <a:r>
              <a:rPr lang="es-MX" dirty="0" err="1" smtClean="0"/>
              <a:t>learning</a:t>
            </a:r>
            <a:r>
              <a:rPr lang="es-MX" dirty="0" smtClean="0"/>
              <a:t> automatiza e imita el funcionamiento del cerebro humano. </a:t>
            </a:r>
            <a:endParaRPr lang="es-MX" dirty="0"/>
          </a:p>
        </p:txBody>
      </p:sp>
      <p:pic>
        <p:nvPicPr>
          <p:cNvPr id="10" name="Picture 7" descr="A diagram of a neuron and a neuron diagram&#10;&#10;AI-generated content may be incorrect.">
            <a:extLst>
              <a:ext uri="{FF2B5EF4-FFF2-40B4-BE49-F238E27FC236}">
                <a16:creationId xmlns:a16="http://schemas.microsoft.com/office/drawing/2014/main" xmlns="" id="{B461D35D-D6F6-4FE7-C9D4-895EEA22859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43104" y="2814043"/>
            <a:ext cx="5525491" cy="3683661"/>
          </a:xfrm>
          <a:prstGeom prst="rect">
            <a:avLst/>
          </a:prstGeom>
        </p:spPr>
      </p:pic>
      <p:pic>
        <p:nvPicPr>
          <p:cNvPr id="1028" name="Picture 4" descr="resumen representación de neuronas y neural redes, ilustrando el complejidad de el humano cerebro y nervioso sistema foto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5325" y="3212835"/>
            <a:ext cx="4762500" cy="26574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673849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53150" y="837794"/>
            <a:ext cx="5591873" cy="3461636"/>
          </a:xfrm>
          <a:prstGeom prst="rect">
            <a:avLst/>
          </a:prstGeom>
        </p:spPr>
      </p:pic>
      <p:sp>
        <p:nvSpPr>
          <p:cNvPr id="5" name="CuadroTexto 4"/>
          <p:cNvSpPr txBox="1"/>
          <p:nvPr/>
        </p:nvSpPr>
        <p:spPr>
          <a:xfrm>
            <a:off x="2524125" y="4943475"/>
            <a:ext cx="77182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dirty="0" smtClean="0"/>
              <a:t>Si esa es una neurona, ¿Cómo conseguimos miles para imitar a nuestro cerebro?</a:t>
            </a:r>
            <a:endParaRPr lang="es-MX" dirty="0"/>
          </a:p>
        </p:txBody>
      </p:sp>
      <p:graphicFrame>
        <p:nvGraphicFramePr>
          <p:cNvPr id="7" name="Objeto 6">
            <a:extLst>
              <a:ext uri="{FF2B5EF4-FFF2-40B4-BE49-F238E27FC236}">
                <a16:creationId xmlns:a16="http://schemas.microsoft.com/office/drawing/2014/main" xmlns="" id="{69B4F3CE-182B-5D22-CB0E-8748C9A8747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132675268"/>
              </p:ext>
            </p:extLst>
          </p:nvPr>
        </p:nvGraphicFramePr>
        <p:xfrm>
          <a:off x="883512" y="1100539"/>
          <a:ext cx="4395868" cy="276469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54" name="Imagen de mapa de bits" r:id="rId4" imgW="6058080" imgH="3809880" progId="Paint.Picture">
                  <p:embed/>
                </p:oleObj>
              </mc:Choice>
              <mc:Fallback>
                <p:oleObj name="Imagen de mapa de bits" r:id="rId4" imgW="6058080" imgH="3809880" progId="Paint.Picture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883512" y="1100539"/>
                        <a:ext cx="4395868" cy="276469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" name="Objeto 10">
            <a:extLst>
              <a:ext uri="{FF2B5EF4-FFF2-40B4-BE49-F238E27FC236}">
                <a16:creationId xmlns:a16="http://schemas.microsoft.com/office/drawing/2014/main" xmlns="" id="{39D3B559-CCC0-3B3C-2B17-DB9DF6A2518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607913709"/>
              </p:ext>
            </p:extLst>
          </p:nvPr>
        </p:nvGraphicFramePr>
        <p:xfrm>
          <a:off x="2524125" y="1375194"/>
          <a:ext cx="333375" cy="3143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55" name="Imagen de mapa de bits" r:id="rId6" imgW="333360" imgH="314280" progId="Paint.Picture">
                  <p:embed/>
                </p:oleObj>
              </mc:Choice>
              <mc:Fallback>
                <p:oleObj name="Imagen de mapa de bits" r:id="rId6" imgW="333360" imgH="314280" progId="Paint.Picture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2524125" y="1375194"/>
                        <a:ext cx="333375" cy="3143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" name="Objeto 11">
            <a:extLst>
              <a:ext uri="{FF2B5EF4-FFF2-40B4-BE49-F238E27FC236}">
                <a16:creationId xmlns:a16="http://schemas.microsoft.com/office/drawing/2014/main" xmlns="" id="{B7F66EA5-4157-FC5A-5777-2D38F3B4C012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422846213"/>
              </p:ext>
            </p:extLst>
          </p:nvPr>
        </p:nvGraphicFramePr>
        <p:xfrm>
          <a:off x="2190750" y="3278307"/>
          <a:ext cx="333375" cy="2762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56" name="Imagen de mapa de bits" r:id="rId8" imgW="333360" imgH="276120" progId="Paint.Picture">
                  <p:embed/>
                </p:oleObj>
              </mc:Choice>
              <mc:Fallback>
                <p:oleObj name="Imagen de mapa de bits" r:id="rId8" imgW="333360" imgH="276120" progId="Paint.Picture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2190750" y="3278307"/>
                        <a:ext cx="333375" cy="2762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" name="Objeto 12">
            <a:extLst>
              <a:ext uri="{FF2B5EF4-FFF2-40B4-BE49-F238E27FC236}">
                <a16:creationId xmlns:a16="http://schemas.microsoft.com/office/drawing/2014/main" xmlns="" id="{C6BBFD98-CE28-25CE-75ED-1BC8B574157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52446914"/>
              </p:ext>
            </p:extLst>
          </p:nvPr>
        </p:nvGraphicFramePr>
        <p:xfrm>
          <a:off x="626337" y="2682222"/>
          <a:ext cx="352425" cy="285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57" name="Imagen de mapa de bits" r:id="rId10" imgW="352440" imgH="285840" progId="Paint.Picture">
                  <p:embed/>
                </p:oleObj>
              </mc:Choice>
              <mc:Fallback>
                <p:oleObj name="Imagen de mapa de bits" r:id="rId10" imgW="352440" imgH="285840" progId="Paint.Picture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626337" y="2682222"/>
                        <a:ext cx="352425" cy="2857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21734260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994" y="886118"/>
            <a:ext cx="11364911" cy="3458058"/>
          </a:xfrm>
          <a:prstGeom prst="rect">
            <a:avLst/>
          </a:prstGeom>
        </p:spPr>
      </p:pic>
      <p:sp>
        <p:nvSpPr>
          <p:cNvPr id="5" name="CuadroTexto 4"/>
          <p:cNvSpPr txBox="1"/>
          <p:nvPr/>
        </p:nvSpPr>
        <p:spPr>
          <a:xfrm>
            <a:off x="5822999" y="5160407"/>
            <a:ext cx="1462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dirty="0" smtClean="0"/>
              <a:t>Capas ocultas</a:t>
            </a:r>
            <a:endParaRPr lang="es-MX" dirty="0"/>
          </a:p>
        </p:txBody>
      </p:sp>
      <p:sp>
        <p:nvSpPr>
          <p:cNvPr id="6" name="CuadroTexto 5"/>
          <p:cNvSpPr txBox="1"/>
          <p:nvPr/>
        </p:nvSpPr>
        <p:spPr>
          <a:xfrm>
            <a:off x="584994" y="5166241"/>
            <a:ext cx="18144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dirty="0" smtClean="0"/>
              <a:t>Capas de entrada</a:t>
            </a:r>
            <a:endParaRPr lang="es-MX" dirty="0"/>
          </a:p>
        </p:txBody>
      </p:sp>
      <p:sp>
        <p:nvSpPr>
          <p:cNvPr id="7" name="CuadroTexto 6"/>
          <p:cNvSpPr txBox="1"/>
          <p:nvPr/>
        </p:nvSpPr>
        <p:spPr>
          <a:xfrm>
            <a:off x="10278308" y="5160407"/>
            <a:ext cx="15488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dirty="0" smtClean="0"/>
              <a:t>Capa de Salida</a:t>
            </a:r>
            <a:endParaRPr lang="es-MX" dirty="0"/>
          </a:p>
        </p:txBody>
      </p:sp>
      <p:sp>
        <p:nvSpPr>
          <p:cNvPr id="8" name="Abrir llave 7"/>
          <p:cNvSpPr/>
          <p:nvPr/>
        </p:nvSpPr>
        <p:spPr>
          <a:xfrm rot="16200000">
            <a:off x="6366201" y="2848410"/>
            <a:ext cx="376240" cy="3807764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9" name="Abrir llave 8"/>
          <p:cNvSpPr/>
          <p:nvPr/>
        </p:nvSpPr>
        <p:spPr>
          <a:xfrm rot="16200000">
            <a:off x="1219670" y="3935959"/>
            <a:ext cx="376240" cy="1645589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10" name="Abrir llave 9"/>
          <p:cNvSpPr/>
          <p:nvPr/>
        </p:nvSpPr>
        <p:spPr>
          <a:xfrm rot="16200000">
            <a:off x="10907048" y="4042777"/>
            <a:ext cx="376240" cy="1463929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11" name="CuadroTexto 10"/>
          <p:cNvSpPr txBox="1"/>
          <p:nvPr/>
        </p:nvSpPr>
        <p:spPr>
          <a:xfrm>
            <a:off x="4574261" y="296791"/>
            <a:ext cx="33863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dirty="0" smtClean="0"/>
              <a:t>Arquitectura de una red neuronal:</a:t>
            </a:r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236861198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781050" y="685800"/>
            <a:ext cx="10515600" cy="5543550"/>
          </a:xfrm>
        </p:spPr>
        <p:txBody>
          <a:bodyPr>
            <a:normAutofit lnSpcReduction="10000"/>
          </a:bodyPr>
          <a:lstStyle/>
          <a:p>
            <a:pPr marL="342900" indent="-342900" algn="just">
              <a:buFontTx/>
              <a:buChar char="-"/>
            </a:pPr>
            <a:r>
              <a:rPr lang="en-US" sz="3200" b="1" dirty="0"/>
              <a:t>The sigmoid </a:t>
            </a:r>
            <a:r>
              <a:rPr lang="en-US" sz="3200" b="1" dirty="0" smtClean="0"/>
              <a:t>function</a:t>
            </a:r>
          </a:p>
          <a:p>
            <a:pPr marL="342900" indent="-342900" algn="just">
              <a:buFontTx/>
              <a:buChar char="-"/>
            </a:pPr>
            <a:endParaRPr lang="en-US" sz="3200" b="1" dirty="0"/>
          </a:p>
          <a:p>
            <a:pPr marL="342900" indent="-342900" algn="just">
              <a:buFontTx/>
              <a:buChar char="-"/>
            </a:pPr>
            <a:endParaRPr lang="en-US" sz="3200" b="1" dirty="0" smtClean="0"/>
          </a:p>
          <a:p>
            <a:pPr marL="342900" indent="-342900" algn="just">
              <a:buFontTx/>
              <a:buChar char="-"/>
            </a:pPr>
            <a:endParaRPr lang="en-US" sz="3200" b="1" dirty="0"/>
          </a:p>
          <a:p>
            <a:pPr marL="342900" indent="-342900" algn="just">
              <a:buFontTx/>
              <a:buChar char="-"/>
            </a:pPr>
            <a:r>
              <a:rPr lang="es-MX" sz="3200" b="1" dirty="0" err="1"/>
              <a:t>The</a:t>
            </a:r>
            <a:r>
              <a:rPr lang="es-MX" sz="3200" b="1" dirty="0"/>
              <a:t> </a:t>
            </a:r>
            <a:r>
              <a:rPr lang="es-MX" sz="3200" b="1" dirty="0" err="1"/>
              <a:t>tanh</a:t>
            </a:r>
            <a:r>
              <a:rPr lang="es-MX" sz="3200" b="1" dirty="0"/>
              <a:t> </a:t>
            </a:r>
            <a:r>
              <a:rPr lang="es-MX" sz="3200" b="1" dirty="0" err="1" smtClean="0"/>
              <a:t>function</a:t>
            </a:r>
            <a:endParaRPr lang="es-MX" sz="3200" b="1" dirty="0" smtClean="0"/>
          </a:p>
          <a:p>
            <a:pPr marL="342900" indent="-342900" algn="just">
              <a:buFontTx/>
              <a:buChar char="-"/>
            </a:pPr>
            <a:endParaRPr lang="es-MX" sz="3200" b="1" dirty="0"/>
          </a:p>
          <a:p>
            <a:pPr marL="342900" indent="-342900" algn="just">
              <a:buFontTx/>
              <a:buChar char="-"/>
            </a:pPr>
            <a:endParaRPr lang="es-MX" sz="3200" b="1" dirty="0" smtClean="0"/>
          </a:p>
          <a:p>
            <a:pPr marL="342900" indent="-342900" algn="just">
              <a:buFontTx/>
              <a:buChar char="-"/>
            </a:pPr>
            <a:endParaRPr lang="en-US" sz="3200" b="1" dirty="0"/>
          </a:p>
          <a:p>
            <a:pPr marL="342900" indent="-342900" algn="just">
              <a:buFontTx/>
              <a:buChar char="-"/>
            </a:pPr>
            <a:r>
              <a:rPr lang="en-US" sz="3200" b="1" dirty="0"/>
              <a:t>The Rectified Linear Unit </a:t>
            </a:r>
            <a:r>
              <a:rPr lang="en-US" sz="3200" b="1" dirty="0" smtClean="0"/>
              <a:t>function</a:t>
            </a:r>
          </a:p>
          <a:p>
            <a:pPr marL="0" indent="0" algn="just">
              <a:buNone/>
            </a:pPr>
            <a:r>
              <a:rPr lang="en-US" sz="3200" b="1" dirty="0" smtClean="0"/>
              <a:t>(</a:t>
            </a:r>
            <a:r>
              <a:rPr lang="en-US" sz="3200" b="1" dirty="0" err="1" smtClean="0"/>
              <a:t>ReLu</a:t>
            </a:r>
            <a:r>
              <a:rPr lang="en-US" sz="3200" b="1" dirty="0" smtClean="0"/>
              <a:t>)</a:t>
            </a:r>
            <a:endParaRPr lang="en-US" sz="3200" b="1" dirty="0"/>
          </a:p>
          <a:p>
            <a:pPr marL="0" indent="0">
              <a:buNone/>
            </a:pPr>
            <a:endParaRPr lang="es-MX" dirty="0"/>
          </a:p>
        </p:txBody>
      </p:sp>
      <p:pic>
        <p:nvPicPr>
          <p:cNvPr id="4" name="Imagen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2227" y="233098"/>
            <a:ext cx="3940373" cy="2271978"/>
          </a:xfrm>
          <a:prstGeom prst="rect">
            <a:avLst/>
          </a:prstGeom>
        </p:spPr>
      </p:pic>
      <p:pic>
        <p:nvPicPr>
          <p:cNvPr id="5" name="Imagen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95298" y="2310751"/>
            <a:ext cx="4939228" cy="2428189"/>
          </a:xfrm>
          <a:prstGeom prst="rect">
            <a:avLst/>
          </a:prstGeom>
        </p:spPr>
      </p:pic>
      <p:pic>
        <p:nvPicPr>
          <p:cNvPr id="6" name="Imagen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02413" y="4794911"/>
            <a:ext cx="3765009" cy="18871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628330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>
            <a:extLst>
              <a:ext uri="{FF2B5EF4-FFF2-40B4-BE49-F238E27FC236}">
                <a16:creationId xmlns:a16="http://schemas.microsoft.com/office/drawing/2014/main" xmlns="" id="{FD65D9FF-80B6-82B3-E2E8-1A29FE35DE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4275" y="749318"/>
            <a:ext cx="4956659" cy="53502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250456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48478" y="0"/>
            <a:ext cx="10515600" cy="1325563"/>
          </a:xfrm>
        </p:spPr>
        <p:txBody>
          <a:bodyPr/>
          <a:lstStyle/>
          <a:p>
            <a:pPr algn="ctr"/>
            <a:r>
              <a:rPr lang="es-MX" dirty="0" smtClean="0"/>
              <a:t>Ejemplos de Modelos de ML y DP</a:t>
            </a:r>
            <a:endParaRPr lang="es-MX" dirty="0"/>
          </a:p>
        </p:txBody>
      </p:sp>
      <p:pic>
        <p:nvPicPr>
          <p:cNvPr id="4" name="Imagen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905" y="1011238"/>
            <a:ext cx="3800475" cy="2365102"/>
          </a:xfrm>
          <a:prstGeom prst="rect">
            <a:avLst/>
          </a:prstGeom>
        </p:spPr>
      </p:pic>
      <p:pic>
        <p:nvPicPr>
          <p:cNvPr id="5" name="Imagen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59380" y="1029342"/>
            <a:ext cx="3652684" cy="2346998"/>
          </a:xfrm>
          <a:prstGeom prst="rect">
            <a:avLst/>
          </a:prstGeom>
        </p:spPr>
      </p:pic>
      <p:pic>
        <p:nvPicPr>
          <p:cNvPr id="6" name="Imagen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1583" y="3394444"/>
            <a:ext cx="3837797" cy="2330091"/>
          </a:xfrm>
          <a:prstGeom prst="rect">
            <a:avLst/>
          </a:prstGeom>
        </p:spPr>
      </p:pic>
      <p:pic>
        <p:nvPicPr>
          <p:cNvPr id="7" name="Imagen 6"/>
          <p:cNvPicPr>
            <a:picLocks noChangeAspect="1"/>
          </p:cNvPicPr>
          <p:nvPr/>
        </p:nvPicPr>
        <p:blipFill rotWithShape="1">
          <a:blip r:embed="rId5"/>
          <a:srcRect r="11918"/>
          <a:stretch/>
        </p:blipFill>
        <p:spPr>
          <a:xfrm>
            <a:off x="7612064" y="1449312"/>
            <a:ext cx="3272509" cy="1057423"/>
          </a:xfrm>
          <a:prstGeom prst="rect">
            <a:avLst/>
          </a:prstGeom>
        </p:spPr>
      </p:pic>
      <p:pic>
        <p:nvPicPr>
          <p:cNvPr id="8" name="Imagen 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63077" y="3314661"/>
            <a:ext cx="3257925" cy="2489655"/>
          </a:xfrm>
          <a:prstGeom prst="rect">
            <a:avLst/>
          </a:prstGeom>
        </p:spPr>
      </p:pic>
      <p:pic>
        <p:nvPicPr>
          <p:cNvPr id="9" name="Imagen 8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31702" y="3009426"/>
            <a:ext cx="1585994" cy="1663358"/>
          </a:xfrm>
          <a:prstGeom prst="rect">
            <a:avLst/>
          </a:prstGeom>
        </p:spPr>
      </p:pic>
      <p:pic>
        <p:nvPicPr>
          <p:cNvPr id="11" name="Marcador de contenido 3"/>
          <p:cNvPicPr>
            <a:picLocks noGrp="1" noChangeAspect="1"/>
          </p:cNvPicPr>
          <p:nvPr>
            <p:ph idx="1"/>
          </p:nvPr>
        </p:nvPicPr>
        <p:blipFill rotWithShape="1">
          <a:blip r:embed="rId8"/>
          <a:srcRect l="23233"/>
          <a:stretch/>
        </p:blipFill>
        <p:spPr>
          <a:xfrm>
            <a:off x="158905" y="5319341"/>
            <a:ext cx="4451195" cy="1538659"/>
          </a:xfrm>
          <a:prstGeom prst="rect">
            <a:avLst/>
          </a:prstGeom>
        </p:spPr>
      </p:pic>
      <p:pic>
        <p:nvPicPr>
          <p:cNvPr id="12" name="Imagen 11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201025" y="4942677"/>
            <a:ext cx="2800806" cy="1563715"/>
          </a:xfrm>
          <a:prstGeom prst="rect">
            <a:avLst/>
          </a:prstGeom>
        </p:spPr>
      </p:pic>
      <p:pic>
        <p:nvPicPr>
          <p:cNvPr id="13" name="Imagen 12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985039" y="3175635"/>
            <a:ext cx="1028844" cy="11717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823105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n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809" y="189212"/>
            <a:ext cx="6820491" cy="4792778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Imagen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34300" y="255887"/>
            <a:ext cx="3857625" cy="3242642"/>
          </a:xfrm>
          <a:prstGeom prst="rect">
            <a:avLst/>
          </a:prstGeom>
        </p:spPr>
      </p:pic>
      <p:pic>
        <p:nvPicPr>
          <p:cNvPr id="8" name="Imagen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34300" y="3498529"/>
            <a:ext cx="3686487" cy="30104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892136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583" y="252033"/>
            <a:ext cx="7935951" cy="5091492"/>
          </a:xfrm>
          <a:prstGeom prst="rect">
            <a:avLst/>
          </a:prstGeom>
        </p:spPr>
      </p:pic>
      <p:pic>
        <p:nvPicPr>
          <p:cNvPr id="5" name="Imagen 4"/>
          <p:cNvPicPr>
            <a:picLocks noChangeAspect="1"/>
          </p:cNvPicPr>
          <p:nvPr/>
        </p:nvPicPr>
        <p:blipFill rotWithShape="1">
          <a:blip r:embed="rId3"/>
          <a:srcRect l="4232" r="7593"/>
          <a:stretch/>
        </p:blipFill>
        <p:spPr>
          <a:xfrm>
            <a:off x="7686675" y="1802955"/>
            <a:ext cx="4429125" cy="35405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653850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022" y="603605"/>
            <a:ext cx="6329926" cy="5059457"/>
          </a:xfrm>
          <a:prstGeom prst="rect">
            <a:avLst/>
          </a:prstGeom>
        </p:spPr>
      </p:pic>
      <p:pic>
        <p:nvPicPr>
          <p:cNvPr id="5" name="Imagen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5948" y="1314102"/>
            <a:ext cx="5328942" cy="34388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777642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533180"/>
            <a:ext cx="12192000" cy="3791639"/>
          </a:xfrm>
          <a:prstGeom prst="rect">
            <a:avLst/>
          </a:prstGeom>
        </p:spPr>
      </p:pic>
      <p:sp>
        <p:nvSpPr>
          <p:cNvPr id="5" name="CuadroTexto 4"/>
          <p:cNvSpPr txBox="1"/>
          <p:nvPr/>
        </p:nvSpPr>
        <p:spPr>
          <a:xfrm>
            <a:off x="4371975" y="504825"/>
            <a:ext cx="34255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dirty="0" smtClean="0"/>
              <a:t>Diseño de un proyecto de ML o DP</a:t>
            </a:r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84840402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79</TotalTime>
  <Words>163</Words>
  <Application>Microsoft Office PowerPoint</Application>
  <PresentationFormat>Panorámica</PresentationFormat>
  <Paragraphs>31</Paragraphs>
  <Slides>14</Slides>
  <Notes>0</Notes>
  <HiddenSlides>0</HiddenSlides>
  <MMClips>0</MMClips>
  <ScaleCrop>false</ScaleCrop>
  <HeadingPairs>
    <vt:vector size="8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Servidores OLE incrustados</vt:lpstr>
      </vt:variant>
      <vt:variant>
        <vt:i4>1</vt:i4>
      </vt:variant>
      <vt:variant>
        <vt:lpstr>Títulos de diapositiva</vt:lpstr>
      </vt:variant>
      <vt:variant>
        <vt:i4>14</vt:i4>
      </vt:variant>
    </vt:vector>
  </HeadingPairs>
  <TitlesOfParts>
    <vt:vector size="19" baseType="lpstr">
      <vt:lpstr>Arial</vt:lpstr>
      <vt:lpstr>Calibri</vt:lpstr>
      <vt:lpstr>Calibri Light</vt:lpstr>
      <vt:lpstr>Tema de Office</vt:lpstr>
      <vt:lpstr>Imagen de mapa de bits</vt:lpstr>
      <vt:lpstr>Machine &amp; Deep Learning</vt:lpstr>
      <vt:lpstr>Machine Learning</vt:lpstr>
      <vt:lpstr>Tipos de Algoritmos de Machine Learning</vt:lpstr>
      <vt:lpstr>Ejemplos de Algoritmos de Machine Learning</vt:lpstr>
      <vt:lpstr>Deep Learning</vt:lpstr>
      <vt:lpstr>Presentación de PowerPoint</vt:lpstr>
      <vt:lpstr>Presentación de PowerPoint</vt:lpstr>
      <vt:lpstr>Presentación de PowerPoint</vt:lpstr>
      <vt:lpstr>Presentación de PowerPoint</vt:lpstr>
      <vt:lpstr>Ejemplos de Modelos de ML y DP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Machine &amp; Deep Learning</dc:title>
  <dc:creator>user</dc:creator>
  <cp:lastModifiedBy>user</cp:lastModifiedBy>
  <cp:revision>8</cp:revision>
  <dcterms:created xsi:type="dcterms:W3CDTF">2026-08-28T19:55:39Z</dcterms:created>
  <dcterms:modified xsi:type="dcterms:W3CDTF">2026-08-28T21:14:52Z</dcterms:modified>
</cp:coreProperties>
</file>